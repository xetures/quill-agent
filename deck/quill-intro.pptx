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>
              <a:gd name="adj" fmla="val 0"/>
            </a:avLst>
          </a:prstGeom>
          <a:solidFill>
            <a:srgbClr val="C89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Quill_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874519"/>
            <a:ext cx="2377440" cy="2377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05840" y="1828800"/>
            <a:ext cx="2468880" cy="2468880"/>
          </a:xfrm>
          <a:prstGeom prst="roundRect">
            <a:avLst>
              <a:gd name="adj" fmla="val 21000"/>
            </a:avLst>
          </a:prstGeom>
          <a:noFill/>
          <a:ln w="15875">
            <a:solidFill>
              <a:srgbClr val="C89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965960"/>
            <a:ext cx="69494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Quill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8933F"/>
                </a:solidFill>
                <a:latin typeface="Helvetica Neue"/>
                <a:ea typeface="PingFang SC"/>
                <a:cs typeface="PingFang SC"/>
              </a:rPr>
              <a:t>本地优先的可配置 Agent 应用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977639"/>
            <a:ext cx="1005840" cy="27432"/>
          </a:xfrm>
          <a:prstGeom prst="roundRect">
            <a:avLst/>
          </a:prstGeom>
          <a:solidFill>
            <a:srgbClr val="C89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4297680"/>
            <a:ext cx="7223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C9D4E0"/>
                </a:solidFill>
                <a:latin typeface="Helvetica Neue"/>
                <a:ea typeface="PingFang SC"/>
                <a:cs typeface="PingFang SC"/>
              </a:rPr>
              <a:t>业务层与界面完全分离：</a:t>
            </a:r>
            <a:r>
              <a:rPr sz="1350" b="1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提示词、工具、技能、记忆都可配可改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C9D4E0"/>
                </a:solidFill>
                <a:latin typeface="Helvetica Neue"/>
                <a:ea typeface="PingFang SC"/>
                <a:cs typeface="PingFang SC"/>
              </a:rPr>
              <a:t>同一份纯 Python 逻辑，Vue 前端、命令行、脚本都能调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80644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9D4E0"/>
                </a:solidFill>
                <a:latin typeface="SF Mono"/>
                <a:ea typeface="PingFang SC"/>
                <a:cs typeface="PingFang SC"/>
              </a:rPr>
              <a:t>v0.1.8  ·  2026-09  · 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0292" cy="384048"/>
          </a:xfrm>
          <a:prstGeom prst="roundRect">
            <a:avLst>
              <a:gd name="adj" fmla="val 50000"/>
            </a:avLst>
          </a:prstGeom>
          <a:solidFill>
            <a:srgbClr val="C89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10344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可本地运行、可二次开发的 Agent 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三层各管一件事，界面换了业务层不用动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98448"/>
            <a:ext cx="10545775" cy="10972"/>
          </a:xfrm>
          <a:prstGeom prst="roundRect">
            <a:avLst/>
          </a:prstGeom>
          <a:solidFill>
            <a:srgbClr val="E3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27632"/>
            <a:ext cx="256032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194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B3A5C"/>
                </a:solidFill>
                <a:latin typeface="SF Mono"/>
                <a:ea typeface="PingFang SC"/>
                <a:cs typeface="PingFang SC"/>
              </a:rPr>
              <a:t>web/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8933F"/>
                </a:solidFill>
                <a:latin typeface="Helvetica Neue"/>
                <a:ea typeface="PingFang SC"/>
                <a:cs typeface="PingFang SC"/>
              </a:rPr>
              <a:t>Vue 3 + Element Plus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界面层：对话、模式、提示词、技能页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627632"/>
            <a:ext cx="256032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737360"/>
            <a:ext cx="2194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B3A5C"/>
                </a:solidFill>
                <a:latin typeface="SF Mono"/>
                <a:ea typeface="PingFang SC"/>
                <a:cs typeface="PingFang SC"/>
              </a:rPr>
              <a:t>server/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8933F"/>
                </a:solidFill>
                <a:latin typeface="Helvetica Neue"/>
                <a:ea typeface="PingFang SC"/>
                <a:cs typeface="PingFang SC"/>
              </a:rPr>
              <a:t>FastAPI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接口层：HTTP / SSE 流式转发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27632"/>
            <a:ext cx="256032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737360"/>
            <a:ext cx="21945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B3A5C"/>
                </a:solidFill>
                <a:latin typeface="SF Mono"/>
                <a:ea typeface="PingFang SC"/>
                <a:cs typeface="PingFang SC"/>
              </a:rPr>
              <a:t>src/quill_agent/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C8933F"/>
                </a:solidFill>
                <a:latin typeface="Helvetica Neue"/>
                <a:ea typeface="PingFang SC"/>
                <a:cs typeface="PingFang SC"/>
              </a:rPr>
              <a:t>纯 Python · 无界面依赖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业务层：Agent 循环、工具、记忆、持久化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56816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6E9E"/>
                </a:solidFill>
                <a:latin typeface="Helvetica Neue"/>
                <a:ea typeface="PingFang SC"/>
                <a:cs typeface="PingFang SC"/>
              </a:rPr>
              <a:t>───▶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HTTP / 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1956816"/>
            <a:ext cx="1280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D6E9E"/>
                </a:solidFill>
                <a:latin typeface="Helvetica Neue"/>
                <a:ea typeface="PingFang SC"/>
                <a:cs typeface="PingFang SC"/>
              </a:rPr>
              <a:t>───▶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直接调用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46120"/>
            <a:ext cx="327141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410712"/>
            <a:ext cx="45720" cy="2185416"/>
          </a:xfrm>
          <a:prstGeom prst="roundRect">
            <a:avLst>
              <a:gd name="adj" fmla="val 50000"/>
            </a:avLst>
          </a:prstGeom>
          <a:solidFill>
            <a:srgbClr val="C89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392424"/>
            <a:ext cx="2859938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为什么分层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业务层不 import 任何界面框架，只认 Python。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今天被 Vue 前端调用，明天被 CLI 或脚本复用 —— 换界面不用重写逻辑。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0138" y="3246120"/>
            <a:ext cx="327141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60138" y="3410712"/>
            <a:ext cx="45720" cy="2185416"/>
          </a:xfrm>
          <a:prstGeom prst="roundRect">
            <a:avLst>
              <a:gd name="adj" fmla="val 50000"/>
            </a:avLst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3392424"/>
            <a:ext cx="2859938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数据在本地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会话、记忆、模式、提示词全是本地 JSON / JSONL 文件。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检索走关键词匹配、零 embedding 依赖，对话内容不出本机；换模型只改配置。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7316" y="3246120"/>
            <a:ext cx="3271418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7316" y="3410712"/>
            <a:ext cx="45720" cy="2185416"/>
          </a:xfrm>
          <a:prstGeom prst="roundRect">
            <a:avLst>
              <a:gd name="adj" fmla="val 50000"/>
            </a:avLst>
          </a:prstGeom>
          <a:solidFill>
            <a:srgbClr val="C89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6772" y="3392424"/>
            <a:ext cx="2859938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可二次开发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加一个工具 = 加一个 @registry.tool 装饰器。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改提示词、加技能 = 编辑 prompt/ 与 skills/ 下的 md 文件，存盘即生效。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来源：README.md 第 1 节 / 第 2 节 / 第 4 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0292" cy="384048"/>
          </a:xfrm>
          <a:prstGeom prst="roundRect">
            <a:avLst>
              <a:gd name="adj" fmla="val 50000"/>
            </a:avLst>
          </a:prstGeom>
          <a:solidFill>
            <a:srgbClr val="C89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10344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一个「模式」，决定这一轮 Agent 的全部行为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模式 Mode（data/modes.json）= 提示词组 + 工具组 + 技能组 + 记忆开关 + 偏好模型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98448"/>
            <a:ext cx="10545775" cy="10972"/>
          </a:xfrm>
          <a:prstGeom prst="roundRect">
            <a:avLst/>
          </a:prstGeom>
          <a:solidFill>
            <a:srgbClr val="E3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72768"/>
            <a:ext cx="10545775" cy="566928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72768"/>
            <a:ext cx="99971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F Mono"/>
                <a:ea typeface="PingFang SC"/>
                <a:cs typeface="PingFang SC"/>
              </a:rPr>
              <a:t>请求 → 流式解析 → 执行工具 → 再请求</a:t>
            </a:r>
            <a:r>
              <a:rPr sz="1150" b="0">
                <a:solidFill>
                  <a:srgbClr val="C9D4E0"/>
                </a:solidFill>
                <a:latin typeface="Helvetica Neue"/>
                <a:ea typeface="PingFang SC"/>
                <a:cs typeface="PingFang SC"/>
              </a:rPr>
              <a:t>     四类资源各自落到 system 消息、tools 参数与 user 消息上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59152"/>
            <a:ext cx="5090007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523744"/>
            <a:ext cx="45720" cy="1243584"/>
          </a:xfrm>
          <a:prstGeom prst="roundRect">
            <a:avLst>
              <a:gd name="adj" fmla="val 50000"/>
            </a:avLst>
          </a:prstGeom>
          <a:solidFill>
            <a:srgbClr val="C89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505456"/>
            <a:ext cx="4678527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提示词 · 每轮全量注入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六类按固定顺序拼进 system：身份 / 能力 / 工具策略 / 工作流程 / 输出规范 / 约束。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正文是文件（prompt/&lt;id&gt;.md），组合是配置 —— 提示词组从每类里各挑一个。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359152"/>
            <a:ext cx="5090007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2523744"/>
            <a:ext cx="45720" cy="1243584"/>
          </a:xfrm>
          <a:prstGeom prst="roundRect">
            <a:avLst>
              <a:gd name="adj" fmla="val 50000"/>
            </a:avLst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8183" y="2505456"/>
            <a:ext cx="4678527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工具 · 按组下发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共 27 个：文件读写、命令执行、后台进程、规划、交互、技能、子代理……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不在模式工具组里的工具不会被发给模型，模型自然不会请求调用。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96512"/>
            <a:ext cx="5090007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261104"/>
            <a:ext cx="45720" cy="1243584"/>
          </a:xfrm>
          <a:prstGeom prst="roundRect">
            <a:avLst>
              <a:gd name="adj" fmla="val 50000"/>
            </a:avLst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4242816"/>
            <a:ext cx="4678527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技能 · 按需加载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平时只占一行「名字 + 适用场景」（约 30 字），任务匹配时模型自己 read_skill 读全文。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20 个流程说明从 1.6 万字常驻开销，变成用到才付费。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4096512"/>
            <a:ext cx="5090007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8727" y="4261104"/>
            <a:ext cx="45720" cy="1243584"/>
          </a:xfrm>
          <a:prstGeom prst="roundRect">
            <a:avLst>
              <a:gd name="adj" fmla="val 50000"/>
            </a:avLst>
          </a:prstGeom>
          <a:solidFill>
            <a:srgbClr val="C89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183" y="4242816"/>
            <a:ext cx="4678527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记忆 · 三个问题分开解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工作记忆 = 历史按窗口预算截断、工具调用可还原；程序性记忆 = 技能。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长期记忆 = data/memory.json + remember 工具；截掉的原文可用 recall_history 捞回。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来源：README.md 第 3 节（3.1 提示词 / 3.2 工具 / 3.3 技能 / 3.4 记忆 / 3.7 模式）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0292" cy="384048"/>
          </a:xfrm>
          <a:prstGeom prst="roundRect">
            <a:avLst>
              <a:gd name="adj" fmla="val 50000"/>
            </a:avLst>
          </a:prstGeom>
          <a:solidFill>
            <a:srgbClr val="C89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10344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边界说清楚：能碰什么、要不要问你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授权、审批、沙箱是三道互补的锁 —— 审批挡不住「不小心」，沙箱才能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98448"/>
            <a:ext cx="10545775" cy="10972"/>
          </a:xfrm>
          <a:prstGeom prst="roundRect">
            <a:avLst/>
          </a:prstGeom>
          <a:solidFill>
            <a:srgbClr val="E3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327141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10512"/>
            <a:ext cx="45720" cy="2322576"/>
          </a:xfrm>
          <a:prstGeom prst="roundRect">
            <a:avLst>
              <a:gd name="adj" fmla="val 50000"/>
            </a:avLst>
          </a:prstGeom>
          <a:solidFill>
            <a:srgbClr val="C89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792224"/>
            <a:ext cx="285993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① 授权 · 应用层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工具组是白名单：没加进模式工具组的工具，根本不会下发给模型。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一条命令要不要放行，取决于它所在的工具在不在组里。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60138" y="1645920"/>
            <a:ext cx="327141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60138" y="1810512"/>
            <a:ext cx="45720" cy="2322576"/>
          </a:xfrm>
          <a:prstGeom prst="roundRect">
            <a:avLst>
              <a:gd name="adj" fmla="val 50000"/>
            </a:avLst>
          </a:prstGeom>
          <a:solidFill>
            <a:srgbClr val="3D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9594" y="1792224"/>
            <a:ext cx="285993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② 审批 · 应用层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工具组里标了 confirm 的操作会弹给用户，阻塞着等答案。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同意才执行；拒绝或问不到，就把结论当工具结果回填给模型继续跑。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7316" y="1645920"/>
            <a:ext cx="327141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7316" y="1810512"/>
            <a:ext cx="45720" cy="2322576"/>
          </a:xfrm>
          <a:prstGeom prst="roundRect">
            <a:avLst>
              <a:gd name="adj" fmla="val 50000"/>
            </a:avLst>
          </a:prstGeom>
          <a:solidFill>
            <a:srgbClr val="C89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6772" y="1792224"/>
            <a:ext cx="285993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③ 沙箱 · 内核层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SANDBOX_MODE 三档：off 全盘 / read-only 只读 / workspace-write 只给工作目录。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Linux 走 bubblewrap，物理限制越界写入；网络默认关闭，要开得显式加参数。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17720"/>
            <a:ext cx="10545775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999713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数据同样可控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会话、记忆、技能、提示词全部落在本地文件里：不引第三方检索服务，不上传对话内容；会话作为产出物可导出带走，删一个工具/技能也不会让对话跑不起来。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来源：README.md 3.9（让 Agent 停下来等人）/ 3.10（沙箱）/ 5（持久层）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02920"/>
            <a:ext cx="50292" cy="384048"/>
          </a:xfrm>
          <a:prstGeom prst="roundRect">
            <a:avLst>
              <a:gd name="adj" fmla="val 50000"/>
            </a:avLst>
          </a:prstGeom>
          <a:solidFill>
            <a:srgbClr val="C89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457200"/>
            <a:ext cx="1034460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怎么跑起来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9264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一条命令起步，五分钟后就能对话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98448"/>
            <a:ext cx="10545775" cy="10972"/>
          </a:xfrm>
          <a:prstGeom prst="roundRect">
            <a:avLst/>
          </a:prstGeom>
          <a:solidFill>
            <a:srgbClr val="E3D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6583680" cy="3200400"/>
          </a:xfrm>
          <a:prstGeom prst="roundRect">
            <a:avLst>
              <a:gd name="adj" fmla="val 6000"/>
            </a:avLst>
          </a:prstGeom>
          <a:solidFill>
            <a:srgbClr val="0F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847088"/>
            <a:ext cx="60350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4E0"/>
                </a:solidFill>
                <a:latin typeface="SF Mono"/>
                <a:ea typeface="PingFang SC"/>
                <a:cs typeface="PingFang SC"/>
              </a:rPr>
              <a:t># 最省事：双击启动脚本（会装依赖、起服务、开浏览器）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8933F"/>
                </a:solidFill>
                <a:latin typeface="SF Mono"/>
                <a:ea typeface="PingFang SC"/>
                <a:cs typeface="PingFang SC"/>
              </a:rPr>
              <a:t>start.command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4E0"/>
                </a:solidFill>
                <a:latin typeface="SF Mono"/>
                <a:ea typeface="PingFang SC"/>
                <a:cs typeface="PingFang SC"/>
              </a:rPr>
              <a:t>            # macOS；Windows 用 start.bat，Linux 跑 ./start.sh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SF Mono"/>
                <a:ea typeface="PingFang SC"/>
                <a:cs typeface="PingFang SC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4E0"/>
                </a:solidFill>
                <a:latin typeface="SF Mono"/>
                <a:ea typeface="PingFang SC"/>
                <a:cs typeface="PingFang SC"/>
              </a:rPr>
              <a:t># 或者自己掌舵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8933F"/>
                </a:solidFill>
                <a:latin typeface="SF Mono"/>
                <a:ea typeface="PingFang SC"/>
                <a:cs typeface="PingFang SC"/>
              </a:rPr>
              <a:t>make dev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4E0"/>
                </a:solidFill>
                <a:latin typeface="SF Mono"/>
                <a:ea typeface="PingFang SC"/>
                <a:cs typeface="PingFang SC"/>
              </a:rPr>
              <a:t>                 # 安装后端依赖（uv 自动建 .venv）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8933F"/>
                </a:solidFill>
                <a:latin typeface="SF Mono"/>
                <a:ea typeface="PingFang SC"/>
                <a:cs typeface="PingFang SC"/>
              </a:rPr>
              <a:t>make build &amp;&amp; make api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4E0"/>
                </a:solidFill>
                <a:latin typeface="SF Mono"/>
                <a:ea typeface="PingFang SC"/>
                <a:cs typeface="PingFang SC"/>
              </a:rPr>
              <a:t>      # 构建前端并启动 → localhost:8000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8933F"/>
                </a:solidFill>
                <a:latin typeface="SF Mono"/>
                <a:ea typeface="PingFang SC"/>
                <a:cs typeface="PingFang SC"/>
              </a:rPr>
              <a:t>uv run quill serve --open-browser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C9D4E0"/>
                </a:solidFill>
                <a:latin typeface="SF Mono"/>
                <a:ea typeface="PingFang SC"/>
                <a:cs typeface="PingFang SC"/>
              </a:rPr>
              <a:t>   # 等价写法：端口占用自动顺延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3596335" cy="14813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783080"/>
            <a:ext cx="313913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环境要求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· Python ≥ 3.10（开发用 3.12）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· 包管理 uv —— 仓库含 uv.lock，安装可复现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· Node ≥ 20（只在构建前端时需要）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310128"/>
            <a:ext cx="3596335" cy="15361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3447288"/>
            <a:ext cx="313913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当前状态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· v0.1.8（2026-09-21）· MIT 许可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· macOS / Linux / Windows 均可运行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· 沙箱隔离目前只有 Linux / WSL2 有后端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2064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接着可以试：</a:t>
            </a:r>
            <a:r>
              <a:rPr sz="120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在「模式」页建一个自己的模式 —— 挑一组提示词、勾几个工具、挂一个技能，然后回任务页选它开跑。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8251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Helvetica Neue"/>
                <a:ea typeface="PingFang SC"/>
                <a:cs typeface="PingFang SC"/>
              </a:rPr>
              <a:t>来源：README.md 第 1 节 / pyproject.toml / CHANGELOG.md 0.1.8 条目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3825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B3A5C"/>
                </a:solidFill>
                <a:latin typeface="Helvetica Neue"/>
                <a:ea typeface="PingFang SC"/>
                <a:cs typeface="PingFang SC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